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/>
            </a:pPr>
            <a:r>
              <a:t>Angular Directives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A Complete Guide to Building Powerful, Reusable Behaviors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What Are Directives?</a:t>
            </a:r>
          </a:p>
          <a:p>
            <a:pPr>
              <a:spcAft>
                <a:spcPts val="1200"/>
              </a:spcAft>
              <a:defRPr sz="2400"/>
            </a:pPr>
            <a:r>
              <a:t>• Three Types of Directives</a:t>
            </a:r>
          </a:p>
          <a:p>
            <a:pPr>
              <a:spcAft>
                <a:spcPts val="1200"/>
              </a:spcAft>
              <a:defRPr sz="2400"/>
            </a:pPr>
            <a:r>
              <a:t>• Attribute Directives - Changing Appearance &amp; Behavior</a:t>
            </a:r>
          </a:p>
          <a:p>
            <a:pPr>
              <a:spcAft>
                <a:spcPts val="1200"/>
              </a:spcAft>
              <a:defRPr sz="2400"/>
            </a:pPr>
            <a:r>
              <a:t>• Structural Directives - Manipulating the DOM</a:t>
            </a:r>
          </a:p>
          <a:p>
            <a:pPr>
              <a:spcAft>
                <a:spcPts val="1200"/>
              </a:spcAft>
              <a:defRPr sz="2400"/>
            </a:pPr>
            <a:r>
              <a:t>• Key APIs: ElementRef, Renderer2, TemplateRef, ViewContainerRef</a:t>
            </a:r>
          </a:p>
          <a:p>
            <a:pPr>
              <a:spcAft>
                <a:spcPts val="1200"/>
              </a:spcAft>
              <a:defRPr sz="2400"/>
            </a:pPr>
            <a:r>
              <a:t>• @HostListener &amp; @HostBinding</a:t>
            </a:r>
          </a:p>
          <a:p>
            <a:pPr>
              <a:spcAft>
                <a:spcPts val="1200"/>
              </a:spcAft>
              <a:defRPr sz="2400"/>
            </a:pPr>
            <a:r>
              <a:t>• Real-World Production Patterns</a:t>
            </a:r>
          </a:p>
          <a:p>
            <a:pPr>
              <a:spcAft>
                <a:spcPts val="1200"/>
              </a:spcAft>
              <a:defRPr sz="2400"/>
            </a:pPr>
            <a:r>
              <a:t>• Best Practices &amp; Performance Tips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What Are Directives?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Directives are classes that add behavior to elements in Angular</a:t>
            </a:r>
          </a:p>
          <a:p>
            <a:pPr>
              <a:spcAft>
                <a:spcPts val="1200"/>
              </a:spcAft>
              <a:defRPr sz="2400"/>
            </a:pPr>
            <a:r>
              <a:t>• Think of them as "HTML attribute superpowers"</a:t>
            </a:r>
          </a:p>
          <a:p>
            <a:pPr>
              <a:spcAft>
                <a:spcPts val="1200"/>
              </a:spcAft>
              <a:defRPr sz="2400"/>
            </a:pPr>
            <a:r>
              <a:t>• They extend what HTML elements can do!</a:t>
            </a:r>
          </a:p>
          <a:p>
            <a:pPr>
              <a:spcAft>
                <a:spcPts val="1200"/>
              </a:spcAft>
              <a:defRPr sz="2400"/>
            </a:pPr>
            <a:r>
              <a:t>• Built-in examples: *ngIf, *ngFor, [ngClass], [ngStyle]</a:t>
            </a:r>
          </a:p>
          <a:p>
            <a:pPr>
              <a:spcAft>
                <a:spcPts val="1200"/>
              </a:spcAft>
              <a:defRPr sz="2400"/>
            </a:pPr>
            <a:r>
              <a:t>• Custom directives let you create reusable behaviors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Three Types of Directives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371600"/>
          <a:ext cx="10972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02920"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Type</a:t>
                      </a:r>
                    </a:p>
                  </a:txBody>
                  <a:tcPr>
                    <a:solidFill/>
                  </a:tcPr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Description</a:t>
                      </a:r>
                    </a:p>
                  </a:txBody>
                  <a:tcPr>
                    <a:solidFill/>
                  </a:tcPr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Example</a:t>
                      </a:r>
                    </a:p>
                  </a:txBody>
                  <a:tcPr>
                    <a:solid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Components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Directives with a template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@Component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Attribute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Modify appearance/behavior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[ngClass], [ngStyle]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Structural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Add/remove DOM elements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*ngIf, *ngFor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Simple Attribute Directive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/>
            </a:pPr>
            <a:r>
              <a:t>Creating a simple directive that highlights elements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737360"/>
            <a:ext cx="11430000" cy="4754880"/>
          </a:xfrm>
          <a:prstGeom prst="round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Consolas"/>
              </a:defRPr>
            </a:pPr>
            <a:r>
              <a:t>@Directive({</a:t>
            </a:r>
            <a:br/>
            <a:r>
              <a:t>    selector: '[appHighlight]',</a:t>
            </a:r>
            <a:br/>
            <a:r>
              <a:t>    standalone: true</a:t>
            </a:r>
            <a:br/>
            <a:r>
              <a:t>})</a:t>
            </a:r>
            <a:br/>
            <a:r>
              <a:t>export class HighlightDirective implements OnInit {</a:t>
            </a:r>
            <a:br/>
            <a:r>
              <a:t>    private el = inject(ElementRef);</a:t>
            </a:r>
            <a:br/>
            <a:r>
              <a:t>    private renderer = inject(Renderer2);</a:t>
            </a:r>
            <a:br/>
            <a:br/>
            <a:r>
              <a:t>    ngOnInit(): void {</a:t>
            </a:r>
            <a:br/>
            <a:r>
              <a:t>        this.renderer.setStyle(</a:t>
            </a:r>
            <a:br/>
            <a:r>
              <a:t>            this.el.nativeElement, </a:t>
            </a:r>
            <a:br/>
            <a:r>
              <a:t>            'backgroundColor', </a:t>
            </a:r>
            <a:br/>
            <a:r>
              <a:t>            '#ffeb3b'</a:t>
            </a:r>
            <a:br/>
            <a:r>
              <a:t>        );</a:t>
            </a:r>
            <a:br/>
            <a:r>
              <a:t>    }</a:t>
            </a:r>
            <a:br/>
            <a:r>
              <a:t>}</a:t>
            </a:r>
            <a:br/>
            <a:br/>
            <a:r>
              <a:t>// Usage: &lt;span appHighlight&gt;Highlighted!&lt;/span&gt;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Configurable Directive with @Input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/>
            </a:pPr>
            <a:r>
              <a:t>Making directives flexible with @Input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737360"/>
            <a:ext cx="11430000" cy="4754880"/>
          </a:xfrm>
          <a:prstGeom prst="round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Consolas"/>
              </a:defRPr>
            </a:pPr>
            <a:r>
              <a:t>@Directive({ selector: '[appHighlight]', standalone: true })</a:t>
            </a:r>
            <a:br/>
            <a:r>
              <a:t>export class HighlightDirective {</a:t>
            </a:r>
            <a:br/>
            <a:r>
              <a:t>    private el = inject(ElementRef);</a:t>
            </a:r>
            <a:br/>
            <a:r>
              <a:t>    private renderer = inject(Renderer2);</a:t>
            </a:r>
            <a:br/>
            <a:br/>
            <a:r>
              <a:t>    @Input() set appHighlight(color: string) {</a:t>
            </a:r>
            <a:br/>
            <a:r>
              <a:t>        this.renderer.setStyle(</a:t>
            </a:r>
            <a:br/>
            <a:r>
              <a:t>            this.el.nativeElement,</a:t>
            </a:r>
            <a:br/>
            <a:r>
              <a:t>            'backgroundColor',</a:t>
            </a:r>
            <a:br/>
            <a:r>
              <a:t>            color || '#ffeb3b'</a:t>
            </a:r>
            <a:br/>
            <a:r>
              <a:t>        );</a:t>
            </a:r>
            <a:br/>
            <a:r>
              <a:t>    }</a:t>
            </a:r>
            <a:br/>
            <a:r>
              <a:t>}</a:t>
            </a:r>
            <a:br/>
            <a:br/>
            <a:r>
              <a:t>// &lt;p [appHighlight]="'yellow'"&gt;Yellow&lt;/p&gt;</a:t>
            </a:r>
            <a:br/>
            <a:r>
              <a:t>// &lt;p [appHighlight]="'lightblue'"&gt;Blue&lt;/p&gt;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Key APIs: ElementRef &amp; Renderer2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ElementRef - Direct DOM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Provides direct access to host element</a:t>
            </a:r>
          </a:p>
          <a:p>
            <a:pPr>
              <a:spcAft>
                <a:spcPts val="800"/>
              </a:spcAft>
              <a:defRPr sz="1800"/>
            </a:pPr>
            <a:r>
              <a:t>• el.nativeElement gives DOM element</a:t>
            </a:r>
          </a:p>
          <a:p>
            <a:pPr>
              <a:spcAft>
                <a:spcPts val="800"/>
              </a:spcAft>
              <a:defRPr sz="1800"/>
            </a:pPr>
            <a:r>
              <a:t>• Direct access - use carefully!</a:t>
            </a:r>
          </a:p>
          <a:p>
            <a:pPr>
              <a:spcAft>
                <a:spcPts val="800"/>
              </a:spcAft>
              <a:defRPr sz="1800"/>
            </a:pPr>
            <a:r>
              <a:t>• May not work in SSR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Renderer2 - Safe DOM Manipulation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Platform-agnostic DOM operations</a:t>
            </a:r>
          </a:p>
          <a:p>
            <a:pPr>
              <a:spcAft>
                <a:spcPts val="800"/>
              </a:spcAft>
              <a:defRPr sz="1800"/>
            </a:pPr>
            <a:r>
              <a:t>• setStyle(), addClass(), removeClass()</a:t>
            </a:r>
          </a:p>
          <a:p>
            <a:pPr>
              <a:spcAft>
                <a:spcPts val="800"/>
              </a:spcAft>
              <a:defRPr sz="1800"/>
            </a:pPr>
            <a:r>
              <a:t>• setAttribute(), listen()</a:t>
            </a:r>
          </a:p>
          <a:p>
            <a:pPr>
              <a:spcAft>
                <a:spcPts val="800"/>
              </a:spcAft>
              <a:defRPr sz="1800"/>
            </a:pPr>
            <a:r>
              <a:t>• Safe for SSR &amp; Web Workers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@HostListener - Responding to Events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/>
            </a:pPr>
            <a:r>
              <a:t>Listen to host element events declaratively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737360"/>
            <a:ext cx="11430000" cy="4754880"/>
          </a:xfrm>
          <a:prstGeom prst="round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Consolas"/>
              </a:defRPr>
            </a:pPr>
            <a:r>
              <a:t>@Directive({ selector: '[appHoverEffect]', standalone: true })</a:t>
            </a:r>
            <a:br/>
            <a:r>
              <a:t>export class HoverEffectDirective {</a:t>
            </a:r>
            <a:br/>
            <a:r>
              <a:t>    private el = inject(ElementRef);</a:t>
            </a:r>
            <a:br/>
            <a:r>
              <a:t>    private renderer = inject(Renderer2);</a:t>
            </a:r>
            <a:br/>
            <a:r>
              <a:t>    @Input() hoverBg = '#667eea';</a:t>
            </a:r>
            <a:br/>
            <a:br/>
            <a:r>
              <a:t>    @HostListener('mouseenter')</a:t>
            </a:r>
            <a:br/>
            <a:r>
              <a:t>    onMouseEnter(): void {</a:t>
            </a:r>
            <a:br/>
            <a:r>
              <a:t>        this.renderer.setStyle(this.el.nativeElement, 'backgroundColor', this.hoverBg);</a:t>
            </a:r>
            <a:br/>
            <a:r>
              <a:t>        this.renderer.setStyle(this.el.nativeElement, 'transform', 'scale(1.05)');</a:t>
            </a:r>
            <a:br/>
            <a:r>
              <a:t>    }</a:t>
            </a:r>
            <a:br/>
            <a:br/>
            <a:r>
              <a:t>    @HostListener('mouseleave')</a:t>
            </a:r>
            <a:br/>
            <a:r>
              <a:t>    onMouseLeave(): void {</a:t>
            </a:r>
            <a:br/>
            <a:r>
              <a:t>        this.renderer.removeStyle(this.el.nativeElement, 'backgroundColor');</a:t>
            </a:r>
            <a:br/>
            <a:r>
              <a:t>  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@HostBinding - Binding Properties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/>
            </a:pPr>
            <a:r>
              <a:t>Bind host element properties and attributes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737360"/>
            <a:ext cx="11430000" cy="4754880"/>
          </a:xfrm>
          <a:prstGeom prst="round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Consolas"/>
              </a:defRPr>
            </a:pPr>
            <a:r>
              <a:t>@Directive({ selector: '[appActiveToggle]', standalone: true })</a:t>
            </a:r>
            <a:br/>
            <a:r>
              <a:t>export class ActiveToggleDirective {</a:t>
            </a:r>
            <a:br/>
            <a:r>
              <a:t>    private isActive = false;</a:t>
            </a:r>
            <a:br/>
            <a:br/>
            <a:r>
              <a:t>    @HostBinding('class.active')</a:t>
            </a:r>
            <a:br/>
            <a:r>
              <a:t>    get active(): boolean { return this.isActive; }</a:t>
            </a:r>
            <a:br/>
            <a:br/>
            <a:r>
              <a:t>    @HostBinding('style.backgroundColor')</a:t>
            </a:r>
            <a:br/>
            <a:r>
              <a:t>    get bgColor(): string { </a:t>
            </a:r>
            <a:br/>
            <a:r>
              <a:t>        return this.isActive ? '#4ade80' : '#f87171'; </a:t>
            </a:r>
            <a:br/>
            <a:r>
              <a:t>    }</a:t>
            </a:r>
            <a:br/>
            <a:br/>
            <a:r>
              <a:t>    @HostListener('click')</a:t>
            </a:r>
            <a:br/>
            <a:r>
              <a:t>    toggle(): void { this.isActive = !this.isActive;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Structural Directives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Change the DOM structure by adding/removing elements</a:t>
            </a:r>
          </a:p>
          <a:p>
            <a:pPr>
              <a:spcAft>
                <a:spcPts val="1200"/>
              </a:spcAft>
              <a:defRPr sz="2400"/>
            </a:pPr>
            <a:r>
              <a:t>• Prefixed with asterisk (*) - syntactic sugar</a:t>
            </a:r>
          </a:p>
          <a:p>
            <a:pPr>
              <a:spcAft>
                <a:spcPts val="1200"/>
              </a:spcAft>
              <a:defRPr sz="2400"/>
            </a:pPr>
            <a:r>
              <a:t>• *ngIf='condition' expands to &lt;ng-template [ngIf]='condition'&gt;</a:t>
            </a:r>
          </a:p>
          <a:p>
            <a:pPr>
              <a:spcAft>
                <a:spcPts val="1200"/>
              </a:spcAft>
              <a:defRPr sz="2400"/>
            </a:pPr>
            <a:r>
              <a:t>• Key APIs: TemplateRef (blueprint) + ViewContainerRef (slot)</a:t>
            </a:r>
          </a:p>
          <a:p>
            <a:pPr>
              <a:spcAft>
                <a:spcPts val="1200"/>
              </a:spcAft>
              <a:defRPr sz="2400"/>
            </a:pPr>
            <a:r>
              <a:t>• createEmbeddedView() to stamp, clear() to remove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TemplateRef &amp; ViewContainerRef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TemplateRef&lt;T&gt;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The 'Rubber Stamp'</a:t>
            </a:r>
          </a:p>
          <a:p>
            <a:pPr>
              <a:spcAft>
                <a:spcPts val="800"/>
              </a:spcAft>
              <a:defRPr sz="1800"/>
            </a:pPr>
            <a:r>
              <a:t>• Holds the template blueprint</a:t>
            </a:r>
          </a:p>
          <a:p>
            <a:pPr>
              <a:spcAft>
                <a:spcPts val="800"/>
              </a:spcAft>
              <a:defRPr sz="1800"/>
            </a:pPr>
            <a:r>
              <a:t>• Contains HTML inside *directive</a:t>
            </a:r>
          </a:p>
          <a:p>
            <a:pPr>
              <a:spcAft>
                <a:spcPts val="800"/>
              </a:spcAft>
              <a:defRPr sz="1800"/>
            </a:pPr>
            <a:r>
              <a:t>• Doesn't render by itself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ViewContainerRef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The 'Slot on Page'</a:t>
            </a:r>
          </a:p>
          <a:p>
            <a:pPr>
              <a:spcAft>
                <a:spcPts val="800"/>
              </a:spcAft>
              <a:defRPr sz="1800"/>
            </a:pPr>
            <a:r>
              <a:t>• Location to render template</a:t>
            </a:r>
          </a:p>
          <a:p>
            <a:pPr>
              <a:spcAft>
                <a:spcPts val="800"/>
              </a:spcAft>
              <a:defRPr sz="1800"/>
            </a:pPr>
            <a:r>
              <a:t>• createEmbeddedView(templateRef)</a:t>
            </a:r>
          </a:p>
          <a:p>
            <a:pPr>
              <a:spcAft>
                <a:spcPts val="800"/>
              </a:spcAft>
              <a:defRPr sz="1800"/>
            </a:pPr>
            <a:r>
              <a:t>• clear() removes all views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Custom Structural Directive: *appIf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/>
            </a:pPr>
            <a:r>
              <a:t>Building your own *ngIf equivalent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737360"/>
            <a:ext cx="11430000" cy="4754880"/>
          </a:xfrm>
          <a:prstGeom prst="round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Consolas"/>
              </a:defRPr>
            </a:pPr>
            <a:r>
              <a:t>@Directive({ selector: '[appIf]', standalone: true })</a:t>
            </a:r>
            <a:br/>
            <a:r>
              <a:t>export class AppIfDirective implements OnChanges {</a:t>
            </a:r>
            <a:br/>
            <a:r>
              <a:t>    private templateRef = inject(TemplateRef&lt;any&gt;);</a:t>
            </a:r>
            <a:br/>
            <a:r>
              <a:t>    private viewContainer = inject(ViewContainerRef);</a:t>
            </a:r>
            <a:br/>
            <a:r>
              <a:t>    private hasView = false;</a:t>
            </a:r>
            <a:br/>
            <a:r>
              <a:t>    @Input() appIf = false;</a:t>
            </a:r>
            <a:br/>
            <a:br/>
            <a:r>
              <a:t>    ngOnChanges(): void {</a:t>
            </a:r>
            <a:br/>
            <a:r>
              <a:t>        if (this.appIf &amp;&amp; !this.hasView) {</a:t>
            </a:r>
            <a:br/>
            <a:r>
              <a:t>            this.viewContainer.createEmbeddedView(this.templateRef);</a:t>
            </a:r>
            <a:br/>
            <a:r>
              <a:t>            this.hasView = true;</a:t>
            </a:r>
            <a:br/>
            <a:r>
              <a:t>        } else if (!this.appIf &amp;&amp; this.hasView) {</a:t>
            </a:r>
            <a:br/>
            <a:r>
              <a:t>            this.viewContainer.clear();</a:t>
            </a:r>
            <a:br/>
            <a:r>
              <a:t>            this.hasView = false;</a:t>
            </a:r>
            <a:br/>
            <a:r>
              <a:t>        }</a:t>
            </a:r>
            <a:br/>
            <a:r>
              <a:t>  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Real-World: Permission-Based Visibility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/>
            </a:pPr>
            <a:r>
              <a:t>Role-based access control in templates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737360"/>
            <a:ext cx="11430000" cy="4754880"/>
          </a:xfrm>
          <a:prstGeom prst="round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Consolas"/>
              </a:defRPr>
            </a:pPr>
            <a:r>
              <a:t>@Directive({ selector: '[appPermission]', standalone: true })</a:t>
            </a:r>
            <a:br/>
            <a:r>
              <a:t>export class PermissionDirective implements OnInit {</a:t>
            </a:r>
            <a:br/>
            <a:r>
              <a:t>    private templateRef = inject(TemplateRef&lt;any&gt;);</a:t>
            </a:r>
            <a:br/>
            <a:r>
              <a:t>    private viewContainer = inject(ViewContainerRef);</a:t>
            </a:r>
            <a:br/>
            <a:r>
              <a:t>    @Input() appPermission: string[] = [];</a:t>
            </a:r>
            <a:br/>
            <a:r>
              <a:t>    private currentUserRoles = ['user', 'editor'];</a:t>
            </a:r>
            <a:br/>
            <a:br/>
            <a:r>
              <a:t>    ngOnInit(): void {</a:t>
            </a:r>
            <a:br/>
            <a:r>
              <a:t>        const hasPermission = this.appPermission.some(role =&gt;</a:t>
            </a:r>
            <a:br/>
            <a:r>
              <a:t>            this.currentUserRoles.includes(role)</a:t>
            </a:r>
            <a:br/>
            <a:r>
              <a:t>        );</a:t>
            </a:r>
            <a:br/>
            <a:r>
              <a:t>        if (hasPermission) {</a:t>
            </a:r>
            <a:br/>
            <a:r>
              <a:t>            this.viewContainer.createEmbeddedView(this.templateRef);</a:t>
            </a:r>
            <a:br/>
            <a:r>
              <a:t>        }</a:t>
            </a:r>
            <a:br/>
            <a:r>
              <a:t>    }</a:t>
            </a:r>
            <a:br/>
            <a:r>
              <a:t>}</a:t>
            </a:r>
            <a:br/>
            <a:r>
              <a:t>// &lt;button *appPermission="['admin']"&gt;Delete&lt;/button&gt;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Real-World: Lazy Load Images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/>
            </a:pPr>
            <a:r>
              <a:t>Load images only when they enter viewport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737360"/>
            <a:ext cx="11430000" cy="4754880"/>
          </a:xfrm>
          <a:prstGeom prst="round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Consolas"/>
              </a:defRPr>
            </a:pPr>
            <a:r>
              <a:t>@Directive({ selector: '[appLazyLoad]', standalone: true })</a:t>
            </a:r>
            <a:br/>
            <a:r>
              <a:t>export class LazyLoadDirective implements AfterViewInit {</a:t>
            </a:r>
            <a:br/>
            <a:r>
              <a:t>    private el = inject(ElementRef);</a:t>
            </a:r>
            <a:br/>
            <a:r>
              <a:t>    private observer: IntersectionObserver | null = null;</a:t>
            </a:r>
            <a:br/>
            <a:r>
              <a:t>    @Input() appLazyLoad = '';</a:t>
            </a:r>
            <a:br/>
            <a:r>
              <a:t>    @Output() loaded = new EventEmitter&lt;void&gt;();</a:t>
            </a:r>
            <a:br/>
            <a:br/>
            <a:r>
              <a:t>    ngAfterViewInit(): void {</a:t>
            </a:r>
            <a:br/>
            <a:r>
              <a:t>        this.observer = new IntersectionObserver(entries =&gt; {</a:t>
            </a:r>
            <a:br/>
            <a:r>
              <a:t>            if (entries[0].isIntersecting) {</a:t>
            </a:r>
            <a:br/>
            <a:r>
              <a:t>                this.el.nativeElement.src = this.appLazyLoad;</a:t>
            </a:r>
            <a:br/>
            <a:r>
              <a:t>                this.loaded.emit();</a:t>
            </a:r>
            <a:br/>
            <a:r>
              <a:t>                this.observer?.disconnect();</a:t>
            </a:r>
            <a:br/>
            <a:r>
              <a:t>            }</a:t>
            </a:r>
            <a:br/>
            <a:r>
              <a:t>        }, { threshold: 0.1 });</a:t>
            </a:r>
            <a:br/>
            <a:r>
              <a:t>        this.observer.observe(this.el.nativeElement);</a:t>
            </a:r>
            <a:br/>
            <a:r>
              <a:t>  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Directive Catalog Summary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371600"/>
          <a:ext cx="109728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02920"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Directive</a:t>
                      </a:r>
                    </a:p>
                  </a:txBody>
                  <a:tcPr>
                    <a:solidFill/>
                  </a:tcPr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Type</a:t>
                      </a:r>
                    </a:p>
                  </a:txBody>
                  <a:tcPr>
                    <a:solidFill/>
                  </a:tcPr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Use Case</a:t>
                      </a:r>
                    </a:p>
                  </a:txBody>
                  <a:tcPr>
                    <a:solid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[appHighlight]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Attribute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Apply background color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[appHoverEffect]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Attribute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Mouse hover effects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[appCopyToClipboard]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Attribute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Copy text on click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[appDebounceClick]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Attribute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Prevent double clicks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[appLazyLoad]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Attribute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Lazy load images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*appIf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Structural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Conditional rendering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*appPermission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Structural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Role-based visibility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Use Renderer2 for DOM (SSR-safe)</a:t>
            </a:r>
          </a:p>
          <a:p>
            <a:pPr>
              <a:spcAft>
                <a:spcPts val="800"/>
              </a:spcAft>
              <a:defRPr sz="1800"/>
            </a:pPr>
            <a:r>
              <a:t>• Use inject() for DI</a:t>
            </a:r>
          </a:p>
          <a:p>
            <a:pPr>
              <a:spcAft>
                <a:spcPts val="800"/>
              </a:spcAft>
              <a:defRPr sz="1800"/>
            </a:pPr>
            <a:r>
              <a:t>• Clean up in ngOnDestroy</a:t>
            </a:r>
          </a:p>
          <a:p>
            <a:pPr>
              <a:spcAft>
                <a:spcPts val="800"/>
              </a:spcAft>
              <a:defRPr sz="1800"/>
            </a:pPr>
            <a:r>
              <a:t>• Use @Input setters for reactivity</a:t>
            </a:r>
          </a:p>
          <a:p>
            <a:pPr>
              <a:spcAft>
                <a:spcPts val="800"/>
              </a:spcAft>
              <a:defRPr sz="1800"/>
            </a:pPr>
            <a:r>
              <a:t>• Keep directives focused</a:t>
            </a:r>
          </a:p>
          <a:p>
            <a:pPr>
              <a:spcAft>
                <a:spcPts val="800"/>
              </a:spcAft>
              <a:defRPr sz="1800"/>
            </a:pPr>
            <a:r>
              <a:t>• Use standalone: true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DON'T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Direct nativeElement for styling</a:t>
            </a:r>
          </a:p>
          <a:p>
            <a:pPr>
              <a:spcAft>
                <a:spcPts val="800"/>
              </a:spcAft>
              <a:defRPr sz="1800"/>
            </a:pPr>
            <a:r>
              <a:t>• Forget to unsubscribe</a:t>
            </a:r>
          </a:p>
          <a:p>
            <a:pPr>
              <a:spcAft>
                <a:spcPts val="800"/>
              </a:spcAft>
              <a:defRPr sz="1800"/>
            </a:pPr>
            <a:r>
              <a:t>• Create multi-purpose directives</a:t>
            </a:r>
          </a:p>
          <a:p>
            <a:pPr>
              <a:spcAft>
                <a:spcPts val="800"/>
              </a:spcAft>
              <a:defRPr sz="1800"/>
            </a:pPr>
            <a:r>
              <a:t>• Use directives when component fits</a:t>
            </a:r>
          </a:p>
          <a:p>
            <a:pPr>
              <a:spcAft>
                <a:spcPts val="800"/>
              </a:spcAft>
              <a:defRPr sz="1800"/>
            </a:pPr>
            <a:r>
              <a:t>• Ignore memory leaks</a:t>
            </a:r>
          </a:p>
          <a:p>
            <a:pPr>
              <a:spcAft>
                <a:spcPts val="800"/>
              </a:spcAft>
              <a:defRPr sz="1800"/>
            </a:pPr>
            <a:r>
              <a:t>• Skip error handling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Lifecycle Hook Selection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371600"/>
          <a:ext cx="109728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502920"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Hook</a:t>
                      </a:r>
                    </a:p>
                  </a:txBody>
                  <a:tcPr>
                    <a:solidFill/>
                  </a:tcPr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Use When</a:t>
                      </a:r>
                    </a:p>
                  </a:txBody>
                  <a:tcPr>
                    <a:solid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constructor()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Dependencies ready, no inputs needed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ngOnInit()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Inputs ready, set up logic/listeners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ngOnChanges()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React to input changes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ngAfterViewInit()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DOM fully rendered, focus/scroll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ngOnDestroy()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Cleanup observers/listeners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Directives extend HTML with custom behaviors</a:t>
            </a:r>
          </a:p>
          <a:p>
            <a:pPr>
              <a:spcAft>
                <a:spcPts val="1200"/>
              </a:spcAft>
              <a:defRPr sz="2400"/>
            </a:pPr>
            <a:r>
              <a:t>• Attribute directives modify appearance/behavior</a:t>
            </a:r>
          </a:p>
          <a:p>
            <a:pPr>
              <a:spcAft>
                <a:spcPts val="1200"/>
              </a:spcAft>
              <a:defRPr sz="2400"/>
            </a:pPr>
            <a:r>
              <a:t>• Structural directives change DOM structure</a:t>
            </a:r>
          </a:p>
          <a:p>
            <a:pPr>
              <a:spcAft>
                <a:spcPts val="1200"/>
              </a:spcAft>
              <a:defRPr sz="2400"/>
            </a:pPr>
            <a:r>
              <a:t>• Use Renderer2 for safe DOM manipulation</a:t>
            </a:r>
          </a:p>
          <a:p>
            <a:pPr>
              <a:spcAft>
                <a:spcPts val="1200"/>
              </a:spcAft>
              <a:defRPr sz="2400"/>
            </a:pPr>
            <a:r>
              <a:t>• TemplateRef + ViewContainerRef = Structural magic</a:t>
            </a:r>
          </a:p>
          <a:p>
            <a:pPr>
              <a:spcAft>
                <a:spcPts val="1200"/>
              </a:spcAft>
              <a:defRPr sz="2400"/>
            </a:pPr>
            <a:r>
              <a:t>• @HostListener for events, @HostBinding for properties</a:t>
            </a:r>
          </a:p>
          <a:p>
            <a:pPr>
              <a:spcAft>
                <a:spcPts val="1200"/>
              </a:spcAft>
              <a:defRPr sz="2400"/>
            </a:pPr>
            <a:r>
              <a:t>• Always clean up in ngOnDestroy!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/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Directives are the secret sauce that makes Angular templates powerful.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